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38552" y="1138554"/>
            <a:ext cx="791489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87232"/>
            <a:ext cx="5767705" cy="360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qdrant.tech/documentation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3964" y="1335404"/>
            <a:ext cx="6112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Major</a:t>
            </a:r>
            <a:r>
              <a:rPr spc="-175" dirty="0"/>
              <a:t> </a:t>
            </a:r>
            <a:r>
              <a:rPr spc="-10" dirty="0"/>
              <a:t>Project</a:t>
            </a:r>
            <a:r>
              <a:rPr spc="-17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2894" y="2013280"/>
            <a:ext cx="2919095" cy="10111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latin typeface="Trebuchet MS"/>
                <a:cs typeface="Trebuchet MS"/>
              </a:rPr>
              <a:t>   </a:t>
            </a:r>
            <a:r>
              <a:rPr lang="en-US" sz="3200" b="1" u="sng" dirty="0">
                <a:latin typeface="Trebuchet MS"/>
                <a:cs typeface="Trebuchet MS"/>
              </a:rPr>
              <a:t>LEEN AI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411" y="4506354"/>
            <a:ext cx="9898380" cy="222186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87325" algn="ctr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latin typeface="Trebuchet MS"/>
                <a:cs typeface="Trebuchet MS"/>
              </a:rPr>
              <a:t>Under</a:t>
            </a:r>
            <a:r>
              <a:rPr sz="2400" b="1" spc="-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Supervision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spc="-25" dirty="0">
                <a:latin typeface="Trebuchet MS"/>
                <a:cs typeface="Trebuchet MS"/>
              </a:rPr>
              <a:t>of</a:t>
            </a:r>
            <a:endParaRPr sz="2400" dirty="0">
              <a:latin typeface="Trebuchet MS"/>
              <a:cs typeface="Trebuchet MS"/>
            </a:endParaRPr>
          </a:p>
          <a:p>
            <a:pPr marL="186055" algn="ctr">
              <a:lnSpc>
                <a:spcPct val="100000"/>
              </a:lnSpc>
              <a:spcBef>
                <a:spcPts val="705"/>
              </a:spcBef>
            </a:pPr>
            <a:r>
              <a:rPr sz="2400" spc="-90" dirty="0">
                <a:latin typeface="Trebuchet MS"/>
                <a:cs typeface="Trebuchet MS"/>
              </a:rPr>
              <a:t>Dr.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/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Mr.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/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Ms.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&lt;</a:t>
            </a:r>
            <a:r>
              <a:rPr lang="en-US" sz="2400" spc="-50" dirty="0">
                <a:latin typeface="Trebuchet MS"/>
                <a:cs typeface="Trebuchet MS"/>
              </a:rPr>
              <a:t>Jeetesh Srivastava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marR="5080" indent="1083310">
              <a:lnSpc>
                <a:spcPct val="124600"/>
              </a:lnSpc>
            </a:pPr>
            <a:r>
              <a:rPr sz="2400" b="1" dirty="0">
                <a:latin typeface="Times New Roman"/>
                <a:cs typeface="Times New Roman"/>
              </a:rPr>
              <a:t>Department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Engineering/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IT/AIML </a:t>
            </a:r>
            <a:r>
              <a:rPr sz="2400" b="1" dirty="0">
                <a:latin typeface="Times New Roman"/>
                <a:cs typeface="Times New Roman"/>
              </a:rPr>
              <a:t>United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College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Research,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Prayagraj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Pin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211010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(India)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158039" y="2621279"/>
            <a:ext cx="3709670" cy="2037714"/>
          </a:xfrm>
          <a:custGeom>
            <a:avLst/>
            <a:gdLst/>
            <a:ahLst/>
            <a:cxnLst/>
            <a:rect l="l" t="t" r="r" b="b"/>
            <a:pathLst>
              <a:path w="3709670" h="2037714">
                <a:moveTo>
                  <a:pt x="3709416" y="0"/>
                </a:moveTo>
                <a:lnTo>
                  <a:pt x="0" y="0"/>
                </a:lnTo>
                <a:lnTo>
                  <a:pt x="0" y="2037588"/>
                </a:lnTo>
                <a:lnTo>
                  <a:pt x="3709416" y="2037588"/>
                </a:lnTo>
                <a:lnTo>
                  <a:pt x="3709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80614" y="2887217"/>
            <a:ext cx="2563495" cy="1528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50" dirty="0">
                <a:latin typeface="Trebuchet MS"/>
                <a:cs typeface="Trebuchet MS"/>
              </a:rPr>
              <a:t>Satyam Tiwari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50" dirty="0">
                <a:latin typeface="Trebuchet MS"/>
                <a:cs typeface="Trebuchet MS"/>
              </a:rPr>
              <a:t>Nitin Singh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rebuchet MS"/>
                <a:cs typeface="Trebuchet MS"/>
              </a:rPr>
              <a:t>Mahima Tripathi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rebuchet MS"/>
                <a:cs typeface="Trebuchet MS"/>
              </a:rPr>
              <a:t>Krishna kr. Singh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15122" y="2641981"/>
            <a:ext cx="4295140" cy="2037714"/>
          </a:xfrm>
          <a:custGeom>
            <a:avLst/>
            <a:gdLst/>
            <a:ahLst/>
            <a:cxnLst/>
            <a:rect l="l" t="t" r="r" b="b"/>
            <a:pathLst>
              <a:path w="4295140" h="2037714">
                <a:moveTo>
                  <a:pt x="4294632" y="0"/>
                </a:moveTo>
                <a:lnTo>
                  <a:pt x="0" y="0"/>
                </a:lnTo>
                <a:lnTo>
                  <a:pt x="0" y="2037588"/>
                </a:lnTo>
                <a:lnTo>
                  <a:pt x="4294632" y="2037588"/>
                </a:lnTo>
                <a:lnTo>
                  <a:pt x="42946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20204" y="2887217"/>
            <a:ext cx="2790190" cy="1528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50" dirty="0">
                <a:latin typeface="Trebuchet MS"/>
                <a:cs typeface="Trebuchet MS"/>
              </a:rPr>
              <a:t>2300100100344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endParaRPr lang="en-US" sz="2400" spc="-5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IN" sz="2400" spc="-50" dirty="0">
                <a:latin typeface="Trebuchet MS"/>
                <a:cs typeface="Trebuchet MS"/>
              </a:rPr>
              <a:t>230010010059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50" dirty="0">
                <a:latin typeface="Trebuchet MS"/>
                <a:cs typeface="Trebuchet MS"/>
              </a:rPr>
              <a:t>2300100100218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50" dirty="0">
                <a:latin typeface="Trebuchet MS"/>
                <a:cs typeface="Trebuchet MS"/>
              </a:rPr>
              <a:t>230010010007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29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/>
              <a:t>Introduction</a:t>
            </a: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Identification</a:t>
            </a:r>
            <a:r>
              <a:rPr spc="-10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Problem</a:t>
            </a:r>
            <a:r>
              <a:rPr spc="-140" dirty="0"/>
              <a:t> </a:t>
            </a:r>
            <a:r>
              <a:rPr spc="-10" dirty="0"/>
              <a:t>Domain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Feasibility</a:t>
            </a:r>
            <a:r>
              <a:rPr spc="-9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10" dirty="0"/>
              <a:t>Project</a:t>
            </a:r>
            <a:r>
              <a:rPr spc="-120" dirty="0"/>
              <a:t> </a:t>
            </a:r>
            <a:r>
              <a:rPr spc="-10" dirty="0"/>
              <a:t>Proposal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/>
              <a:t>Objectives</a:t>
            </a: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Methodology</a:t>
            </a:r>
            <a:r>
              <a:rPr spc="-9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spc="-10" dirty="0"/>
              <a:t>Proposed</a:t>
            </a:r>
            <a:r>
              <a:rPr spc="-90" dirty="0"/>
              <a:t> </a:t>
            </a:r>
            <a:r>
              <a:rPr spc="-20" dirty="0"/>
              <a:t>Work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pc="-10" dirty="0"/>
              <a:t>Conclusion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77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EF66D2-FB18-7FE0-4201-E973DD18A0EB}"/>
              </a:ext>
            </a:extLst>
          </p:cNvPr>
          <p:cNvSpPr txBox="1"/>
          <p:nvPr/>
        </p:nvSpPr>
        <p:spPr>
          <a:xfrm>
            <a:off x="495300" y="1905000"/>
            <a:ext cx="11201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Traditional education follows a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one-size-fits-all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teaching approach, which does not meet the individual learning needs of every student.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Students have different learning abilities, understanding levels, and learning speeds, requiring a more personalized approach.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Teachers often cannot provide individual attention to every student due to large class sizes and limited classroom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Students frequently experience delays in doubt resolution outside classroom hours, affecting their learning continuity.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Existing learning platforms mainly provide static content and lack personalized guidance, adaptive learning, and continuous performance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LEEN AI – An AI Personal Teacher System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designed to overcome these challenges by providing personalized learning, intelligent doubt solving, adaptive study planning, automated assessments, and real-time performance tracking.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system uses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(AI), Natural Language Processing (NLP),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 deliver accurate, context-aware, and interactive learning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is available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24×7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enabling students to learn anytime and anywhere while promoting self-paced, flexible, and student-centric education. </a:t>
            </a: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95"/>
              </a:spcBef>
            </a:pPr>
            <a:r>
              <a:rPr dirty="0"/>
              <a:t>Identification</a:t>
            </a:r>
            <a:r>
              <a:rPr spc="-185" dirty="0"/>
              <a:t> </a:t>
            </a:r>
            <a:r>
              <a:rPr dirty="0"/>
              <a:t>of</a:t>
            </a:r>
            <a:r>
              <a:rPr spc="-185" dirty="0"/>
              <a:t> </a:t>
            </a:r>
            <a:r>
              <a:rPr spc="-10" dirty="0"/>
              <a:t>Problem</a:t>
            </a:r>
            <a:r>
              <a:rPr spc="-180" dirty="0"/>
              <a:t> </a:t>
            </a:r>
            <a:r>
              <a:rPr spc="-10" dirty="0"/>
              <a:t>Domain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4639A2-B8F0-2308-AC04-E7332D33A70D}"/>
              </a:ext>
            </a:extLst>
          </p:cNvPr>
          <p:cNvSpPr txBox="1"/>
          <p:nvPr/>
        </p:nvSpPr>
        <p:spPr>
          <a:xfrm>
            <a:off x="449344" y="2117472"/>
            <a:ext cx="115902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 Lack of Personalized Learning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Every student receives the same teaching method regardless of their understanding level. Fast learners become bored, while slow learners struggle to keep up.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Limited Teacher Availability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Teachers cannot be available all the time. Students often have doubts while studying at home but cannot get immediate help.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3. Poor Performance Tracking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Most schools evaluate students only through exams and marks. This does not accurately represent a student's understanding or learning progress.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4. Static Learning Materials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Books, notes, and videos are fixed and cannot adapt according to individual student needs.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5. Lack of Proper Study Planning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Many students do not know what to study, when to revise, or how to prepare effectively.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4990">
              <a:lnSpc>
                <a:spcPct val="100000"/>
              </a:lnSpc>
              <a:spcBef>
                <a:spcPts val="95"/>
              </a:spcBef>
            </a:pPr>
            <a:r>
              <a:rPr dirty="0"/>
              <a:t>Feasibility</a:t>
            </a:r>
            <a:r>
              <a:rPr spc="-13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Project</a:t>
            </a:r>
            <a:r>
              <a:rPr spc="-125" dirty="0"/>
              <a:t> </a:t>
            </a:r>
            <a:r>
              <a:rPr spc="-10" dirty="0"/>
              <a:t>Proposal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FC51E-133E-7424-763B-F5DDCA725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071446"/>
              </p:ext>
            </p:extLst>
          </p:nvPr>
        </p:nvGraphicFramePr>
        <p:xfrm>
          <a:off x="917575" y="2127091"/>
          <a:ext cx="5767388" cy="2926080"/>
        </p:xfrm>
        <a:graphic>
          <a:graphicData uri="http://schemas.openxmlformats.org/drawingml/2006/table">
            <a:tbl>
              <a:tblPr/>
              <a:tblGrid>
                <a:gridCol w="2883694">
                  <a:extLst>
                    <a:ext uri="{9D8B030D-6E8A-4147-A177-3AD203B41FA5}">
                      <a16:colId xmlns:a16="http://schemas.microsoft.com/office/drawing/2014/main" val="3484896927"/>
                    </a:ext>
                  </a:extLst>
                </a:gridCol>
                <a:gridCol w="2883694">
                  <a:extLst>
                    <a:ext uri="{9D8B030D-6E8A-4147-A177-3AD203B41FA5}">
                      <a16:colId xmlns:a16="http://schemas.microsoft.com/office/drawing/2014/main" val="682369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60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37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65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5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96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2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97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1627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2E7EA0-2C8C-E5C9-2CBF-9D71CCD092C8}"/>
              </a:ext>
            </a:extLst>
          </p:cNvPr>
          <p:cNvSpPr txBox="1"/>
          <p:nvPr/>
        </p:nvSpPr>
        <p:spPr>
          <a:xfrm>
            <a:off x="3047215" y="269269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5E9DC6-F8D1-0876-D8D9-89ABDCD95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68540"/>
              </p:ext>
            </p:extLst>
          </p:nvPr>
        </p:nvGraphicFramePr>
        <p:xfrm>
          <a:off x="917574" y="1905000"/>
          <a:ext cx="10588626" cy="2440778"/>
        </p:xfrm>
        <a:graphic>
          <a:graphicData uri="http://schemas.openxmlformats.org/drawingml/2006/table">
            <a:tbl>
              <a:tblPr/>
              <a:tblGrid>
                <a:gridCol w="5294313">
                  <a:extLst>
                    <a:ext uri="{9D8B030D-6E8A-4147-A177-3AD203B41FA5}">
                      <a16:colId xmlns:a16="http://schemas.microsoft.com/office/drawing/2014/main" val="1676385075"/>
                    </a:ext>
                  </a:extLst>
                </a:gridCol>
                <a:gridCol w="5294313">
                  <a:extLst>
                    <a:ext uri="{9D8B030D-6E8A-4147-A177-3AD203B41FA5}">
                      <a16:colId xmlns:a16="http://schemas.microsoft.com/office/drawing/2014/main" val="2571369296"/>
                    </a:ext>
                  </a:extLst>
                </a:gridCol>
              </a:tblGrid>
              <a:tr h="301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Feasibility</a:t>
                      </a:r>
                      <a:endParaRPr lang="en-IN" sz="150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Feasibility</a:t>
                      </a:r>
                      <a:endParaRPr lang="en-IN" sz="150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359591"/>
                  </a:ext>
                </a:extLst>
              </a:tr>
              <a:tr h="812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Built using modern technologies such as </a:t>
                      </a: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React.js, </a:t>
                      </a:r>
                      <a:r>
                        <a:rPr lang="en-IN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FastAPI</a:t>
                      </a: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MongoDB, Redis, </a:t>
                      </a:r>
                      <a:r>
                        <a:rPr lang="en-IN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Qdrant</a:t>
                      </a: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NLP, and RAG</a:t>
                      </a: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Simple and intuitive interface for </a:t>
                      </a:r>
                      <a:r>
                        <a:rPr lang="en-IN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Students, Parents, and Admin</a:t>
                      </a:r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833076"/>
                  </a:ext>
                </a:extLst>
              </a:tr>
              <a:tr h="66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Supports AI-driven personalization, semantic search, and real-time analytics.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Available </a:t>
                      </a: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24×7</a:t>
                      </a: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continuous learning and instant doubt solving.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54478"/>
                  </a:ext>
                </a:extLst>
              </a:tr>
              <a:tr h="66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Modular architecture ensures scalability, security, and easy maintenance.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Reduces teachers' workload while improving student engagement and learning outcomes.</a:t>
                      </a:r>
                    </a:p>
                  </a:txBody>
                  <a:tcPr marL="78374" marR="78374" marT="39187" marB="39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9559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9F1DC8F-C9BB-AAF1-8EE4-B2D5B10F1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758831"/>
              </p:ext>
            </p:extLst>
          </p:nvPr>
        </p:nvGraphicFramePr>
        <p:xfrm>
          <a:off x="917574" y="4477224"/>
          <a:ext cx="10588626" cy="2353116"/>
        </p:xfrm>
        <a:graphic>
          <a:graphicData uri="http://schemas.openxmlformats.org/drawingml/2006/table">
            <a:tbl>
              <a:tblPr/>
              <a:tblGrid>
                <a:gridCol w="5294313">
                  <a:extLst>
                    <a:ext uri="{9D8B030D-6E8A-4147-A177-3AD203B41FA5}">
                      <a16:colId xmlns:a16="http://schemas.microsoft.com/office/drawing/2014/main" val="3547169201"/>
                    </a:ext>
                  </a:extLst>
                </a:gridCol>
                <a:gridCol w="5294313">
                  <a:extLst>
                    <a:ext uri="{9D8B030D-6E8A-4147-A177-3AD203B41FA5}">
                      <a16:colId xmlns:a16="http://schemas.microsoft.com/office/drawing/2014/main" val="3136617506"/>
                    </a:ext>
                  </a:extLst>
                </a:gridCol>
              </a:tblGrid>
              <a:tr h="33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Economic Feasibility</a:t>
                      </a:r>
                      <a:endParaRPr lang="en-IN" sz="140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Feasibility</a:t>
                      </a:r>
                      <a:endParaRPr lang="en-IN" sz="140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230745"/>
                  </a:ext>
                </a:extLst>
              </a:tr>
              <a:tr h="59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Developed using </a:t>
                      </a:r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open-source technologies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minimizing software costs.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Follows a structured Software Development Life Cycle (SDLC).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702314"/>
                  </a:ext>
                </a:extLst>
              </a:tr>
              <a:tr h="59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Low maintenance cost with scalable deployment using Docker.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Can be completed within the academic project duration through planned phases.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462333"/>
                  </a:ext>
                </a:extLst>
              </a:tr>
              <a:tr h="824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Cost-effective solution compared to private tutoring and commercial learning platforms.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Development includes Requirement Analysis, Design, Implementation, Testing, and Deployment.</a:t>
                      </a:r>
                    </a:p>
                  </a:txBody>
                  <a:tcPr marL="90130" marR="90130" marT="45065" marB="45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67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82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A3072C-9D1B-8EED-1FF7-C3909BE92DC1}"/>
              </a:ext>
            </a:extLst>
          </p:cNvPr>
          <p:cNvSpPr txBox="1"/>
          <p:nvPr/>
        </p:nvSpPr>
        <p:spPr>
          <a:xfrm>
            <a:off x="767499" y="2157067"/>
            <a:ext cx="11218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primary objective of LEEN AI is to develop an intelligent educational platform capable of providing personalized and adaptive learning experiences.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53BB8-3415-8AAC-F5A0-700A3A7462E2}"/>
              </a:ext>
            </a:extLst>
          </p:cNvPr>
          <p:cNvSpPr txBox="1"/>
          <p:nvPr/>
        </p:nvSpPr>
        <p:spPr>
          <a:xfrm>
            <a:off x="762000" y="2895600"/>
            <a:ext cx="10896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Develop an AI-powered personalized learning system.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Provide instant doubt-solving through text, voice, and image inputs.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Generate adaptive study schedules according to individual learning progress.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Automatically generate quizzes and evaluate student performance.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Continuously monitor academic progress using AI analytics.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Identify weak learning areas and recommend targeted improvements.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Increase student engagement through interactive learning techniques.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Enable parents to monitor their child's academic performance through dashboards and reports.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Improve learning efficiency using Retrieval-Augmented Generation (RAG) and Natural Language           Processing. </a:t>
            </a:r>
          </a:p>
          <a:p>
            <a:pPr>
              <a:buNone/>
            </a:pP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Methodology</a:t>
            </a:r>
            <a:r>
              <a:rPr spc="-150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dirty="0"/>
              <a:t>the</a:t>
            </a:r>
            <a:r>
              <a:rPr spc="-160" dirty="0"/>
              <a:t> </a:t>
            </a:r>
            <a:r>
              <a:rPr spc="-10" dirty="0"/>
              <a:t>Proposed</a:t>
            </a:r>
            <a:r>
              <a:rPr spc="-145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9344" y="1447800"/>
            <a:ext cx="11293111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is developed using an iterative and incremental (Agile) model, in which every module is designed, implemented, tested and refined before the next phase is taken up.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1 – Requirement Analysis: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Study of existing e-learning platforms and their limitations, and collection of requirements from students, teachers and parents.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2 – System Design: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Design of the three-tier architecture, the database (ER) schema, versioned REST API contracts, data-flow diagrams and user-interface wireframes.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3 – Knowledge Base Preparation: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Collection of syllabus-aligned material, text extraction and cleaning, semantic chunking, and storage of the resulting vector embeddings.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4 – AI Module Development: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Implementation of the Retrieval-Augmented Generation (RAG) pipeline, NLP-based doubt solving, automatic quiz generation and the analytics engine.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5 – Application Development: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Development of the React frontend and FastAPI backend with PostgreSQL, Redis and Celery, integrated through secure, versioned REST APIs.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Phase 6 – Testing and Deployment: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Unit, integration and user acceptance testing, containerised deployment using Docker and Nginx, and refinement based on user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Methodology – System 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9344" y="1447800"/>
            <a:ext cx="11293111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system is organised as a modular three-tier architecture in which the presentation, application and data layers are loosely coupled and communicate only through versioned REST APIs: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Presentation Layer: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React (Vite) and TailwindCSS single-page application that provides separate dashboards for students, parents and teachers.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Application Layer: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FastAPI (Python) services that handle authentication, request validation and business logic, with Celery and Redis executing long-running tasks in the background.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Intelligence (AI) Layer: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Embedding generation, semantic retrieval from the knowledge base and context-grounded response generation by the language model using the RAG technique.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Data Layer: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PostgreSQL for structured data such as users, quizzes and progress records, Redis for caching and task queuing, and a vector database (Qdrant) for the semantic knowledge base.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Deployment Layer: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All services are containerised with Docker, orchestrated using Docker Compose and exposed through an Nginx reverse proxy.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Functional Modules: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Doubt Solving, Adaptive Study Planner, Quiz and Assessment, Performance Analytics, Parent Monitoring, and Authentication and Profile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Methodology – Working 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9344" y="1447800"/>
            <a:ext cx="11293111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working of the proposed system follows the sequence given below: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1: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student registers and logs in; the profile, class and initial learning level are stored securely in the database.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2: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student submits a doubt as text, voice or an image, and the input is pre-processed and normalised using NLP techniques.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3: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processed query is converted into a vector embedding and semantically matched against the syllabus knowledge base.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4: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most relevant content chunks are retrieved and passed, together with the query, to the language model (Retrieval-Augmented Generation).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5: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context-grounded, syllabus-aligned explanation is generated and returned to the student in real time.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6: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Every interaction, quiz attempt and score is recorded to build a continuous learning profile of the student.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7: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analytics engine evaluates this profile to identify weak topics and to measure conceptual progress over time.</a:t>
            </a:r>
          </a:p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 Step 8: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adaptive planner regenerates the study schedule and revision plan, and the results are rendered on the student and parent dashboards.</a:t>
            </a:r>
          </a:p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Report generation and notifications are executed asynchronously through Celery workers, so that the response time of the learning interface remains unaffected.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06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C0F22D-39CF-6CB9-3EE1-B431A01E4C90}"/>
              </a:ext>
            </a:extLst>
          </p:cNvPr>
          <p:cNvSpPr txBox="1"/>
          <p:nvPr/>
        </p:nvSpPr>
        <p:spPr>
          <a:xfrm>
            <a:off x="609600" y="1981200"/>
            <a:ext cx="11201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LEEN AI represents a next-generation intelligent educational platform that combines Artificial Intelligence with personalized learning methodologies.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proposed system overcomes several limitations of traditional education by providing: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Personalized concept explanation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Adaptive study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Automated assessments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Continuous performance analytics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Parent monitoring dashboards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Instant AI-based doubt solving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C70F4-98B2-0A42-EB77-5CD99DA99DBD}"/>
              </a:ext>
            </a:extLst>
          </p:cNvPr>
          <p:cNvSpPr txBox="1"/>
          <p:nvPr/>
        </p:nvSpPr>
        <p:spPr>
          <a:xfrm>
            <a:off x="609600" y="4495800"/>
            <a:ext cx="11201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Although the current version has limitations such as internet dependency and AI accuracy, future enhancements may include multilingual support, speech-based interaction, mobile applications, predictive learning analytics, and integration with educational institutions.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conclusion, LEEN AI has the potential to revolutionize digital education by making learning more intelligent, adaptive, interactive, and accessible for students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573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297179"/>
            <a:ext cx="2290572" cy="73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7728" y="140207"/>
            <a:ext cx="1368552" cy="8839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86611"/>
            <a:ext cx="12159233" cy="38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DBE627-9260-A5AA-C0F1-A8054FE190F9}"/>
              </a:ext>
            </a:extLst>
          </p:cNvPr>
          <p:cNvSpPr txBox="1"/>
          <p:nvPr/>
        </p:nvSpPr>
        <p:spPr>
          <a:xfrm>
            <a:off x="838200" y="2136338"/>
            <a:ext cx="1097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Hwang, G.-J., &amp; Chang, S.-Y.</a:t>
            </a:r>
            <a:r>
              <a:rPr lang="en-IN" dirty="0"/>
              <a:t> (2021). </a:t>
            </a:r>
            <a:r>
              <a:rPr lang="en-IN" i="1" dirty="0"/>
              <a:t>A Review of the Effects of Artificial Intelligence on Personalized Learning.</a:t>
            </a:r>
            <a:r>
              <a:rPr lang="en-IN" dirty="0"/>
              <a:t> </a:t>
            </a:r>
            <a:r>
              <a:rPr lang="en-IN" b="1" dirty="0"/>
              <a:t>Educational Technology Research and Development</a:t>
            </a:r>
            <a:r>
              <a:rPr lang="en-IN" dirty="0"/>
              <a:t>, 69(4), 1649–1670.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Lewis, P., et al.</a:t>
            </a:r>
            <a:r>
              <a:rPr lang="en-IN" dirty="0"/>
              <a:t> (2020). </a:t>
            </a:r>
            <a:r>
              <a:rPr lang="en-IN" i="1" dirty="0"/>
              <a:t>Retrieval-Augmented Generation for Knowledge-Intensive NLP Tasks.</a:t>
            </a:r>
            <a:r>
              <a:rPr lang="en-IN" dirty="0"/>
              <a:t> </a:t>
            </a:r>
            <a:r>
              <a:rPr lang="en-IN" b="1" dirty="0"/>
              <a:t>Advances in Neural Information Processing Systems (</a:t>
            </a:r>
            <a:r>
              <a:rPr lang="en-IN" b="1" dirty="0" err="1"/>
              <a:t>NeurIPS</a:t>
            </a:r>
            <a:r>
              <a:rPr lang="en-IN" b="1" dirty="0"/>
              <a:t> 33).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Tariq, M.</a:t>
            </a:r>
            <a:r>
              <a:rPr lang="en-IN" dirty="0"/>
              <a:t> (2023). </a:t>
            </a:r>
            <a:r>
              <a:rPr lang="en-IN" i="1" dirty="0"/>
              <a:t>Implementing High-Performance Web Applications with </a:t>
            </a:r>
            <a:r>
              <a:rPr lang="en-IN" i="1" dirty="0" err="1"/>
              <a:t>FastAPI</a:t>
            </a:r>
            <a:r>
              <a:rPr lang="en-IN" i="1" dirty="0"/>
              <a:t>: A Modern Architecture Approach.</a:t>
            </a:r>
            <a:r>
              <a:rPr lang="en-IN" dirty="0"/>
              <a:t> </a:t>
            </a:r>
            <a:r>
              <a:rPr lang="en-IN" b="1" dirty="0"/>
              <a:t>Journal of Software Engineering and Applications</a:t>
            </a:r>
            <a:r>
              <a:rPr lang="en-IN" dirty="0"/>
              <a:t>, 16(5), 187–201.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Baker, R. S., &amp; Siemens, G.</a:t>
            </a:r>
            <a:r>
              <a:rPr lang="en-IN" dirty="0"/>
              <a:t> (2014). </a:t>
            </a:r>
            <a:r>
              <a:rPr lang="en-IN" i="1" dirty="0"/>
              <a:t>Educational Data Mining and Learning Analytics.</a:t>
            </a:r>
            <a:r>
              <a:rPr lang="en-IN" dirty="0"/>
              <a:t> In </a:t>
            </a:r>
            <a:r>
              <a:rPr lang="en-IN" b="1" dirty="0"/>
              <a:t>Handbook of Learning Technologies</a:t>
            </a:r>
            <a:r>
              <a:rPr lang="en-IN" dirty="0"/>
              <a:t> (pp. 253–274). Springer.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Qdrant</a:t>
            </a:r>
            <a:r>
              <a:rPr lang="en-IN" b="1" dirty="0"/>
              <a:t> Documentation.</a:t>
            </a:r>
            <a:r>
              <a:rPr lang="en-IN" dirty="0"/>
              <a:t> Available at: </a:t>
            </a:r>
            <a:r>
              <a:rPr lang="en-IN" b="1" dirty="0">
                <a:hlinkClick r:id="rId5"/>
              </a:rPr>
              <a:t>https://qdrant.tech/documentation/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1596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Times New Roman</vt:lpstr>
      <vt:lpstr>Trebuchet MS</vt:lpstr>
      <vt:lpstr>Office Theme</vt:lpstr>
      <vt:lpstr>Major Project Presentation</vt:lpstr>
      <vt:lpstr>Outline</vt:lpstr>
      <vt:lpstr>Introduction</vt:lpstr>
      <vt:lpstr>Identification of Problem Domain</vt:lpstr>
      <vt:lpstr>Feasibility of Project Proposal</vt:lpstr>
      <vt:lpstr>Objectives</vt:lpstr>
      <vt:lpstr>Methodology of the Proposed Work</vt:lpstr>
      <vt:lpstr>Methodology – System Architecture</vt:lpstr>
      <vt:lpstr>Methodology – Working Flow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Suyash Shukla</dc:creator>
  <cp:lastModifiedBy>satyam tiwari</cp:lastModifiedBy>
  <cp:revision>1</cp:revision>
  <dcterms:created xsi:type="dcterms:W3CDTF">2026-07-21T16:39:38Z</dcterms:created>
  <dcterms:modified xsi:type="dcterms:W3CDTF">2026-10-12T14:52:23Z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2026-07-19T00:00:00Z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2026-07-21T00:00:00Z</vt:filetime>
  </property>
  <property fmtid="{D5CDD505-2E9C-101B-9397-08002B2CF9AE}" pid="6" name="Producer">
    <vt:lpwstr>Microsoft® PowerPoint® 2019</vt:lpwstr>
  </property>
</Properties>
</file>